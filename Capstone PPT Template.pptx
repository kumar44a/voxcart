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15"/>
  </p:notesMasterIdLst>
  <p:sldIdLst>
    <p:sldId id="256" r:id="rId3"/>
    <p:sldId id="714" r:id="rId4"/>
    <p:sldId id="674" r:id="rId5"/>
    <p:sldId id="715" r:id="rId6"/>
    <p:sldId id="712" r:id="rId7"/>
    <p:sldId id="716" r:id="rId8"/>
    <p:sldId id="717" r:id="rId9"/>
    <p:sldId id="719" r:id="rId10"/>
    <p:sldId id="718" r:id="rId11"/>
    <p:sldId id="721" r:id="rId12"/>
    <p:sldId id="711" r:id="rId13"/>
    <p:sldId id="30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104" d="100"/>
          <a:sy n="104" d="100"/>
        </p:scale>
        <p:origin x="192" y="51"/>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Rectangle 5"/>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Rectangle 5"/>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Rectangle 5"/>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Arrow: Pentagon 5"/>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p:cNvSpPr txBox="1"/>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endParaRPr lang="en-US" sz="3400" dirty="0">
              <a:solidFill>
                <a:schemeClr val="bg1"/>
              </a:solidFill>
              <a:latin typeface="Calibri" panose="020F050202020403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p:cNvSpPr txBox="1"/>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endParaRPr lang="en-US" sz="3400" dirty="0">
              <a:solidFill>
                <a:srgbClr val="1D1B58"/>
              </a:solidFill>
              <a:latin typeface="Calibri" panose="020F0502020204030204" pitchFamily="34" charset="0"/>
            </a:endParaRPr>
          </a:p>
        </p:txBody>
      </p:sp>
      <p:sp>
        <p:nvSpPr>
          <p:cNvPr id="13" name="Freeform: Shape 12"/>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endParaRPr lang="en-US" dirty="0"/>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8" name="Title 1"/>
          <p:cNvSpPr txBox="1"/>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endParaRPr lang="en-US" sz="3400" dirty="0">
              <a:solidFill>
                <a:schemeClr val="bg1"/>
              </a:solidFill>
              <a:latin typeface="Calibri" panose="020F0502020204030204" pitchFamily="34" charset="0"/>
            </a:endParaRPr>
          </a:p>
        </p:txBody>
      </p:sp>
      <p:sp>
        <p:nvSpPr>
          <p:cNvPr id="13" name="Freeform: Shape 12"/>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endParaRPr lang="en-US" dirty="0"/>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endParaRPr lang="en-US" dirty="0"/>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endParaRPr lang="en-US" dirty="0"/>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endParaRPr lang="en-US" dirty="0"/>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endParaRPr lang="en-US" dirty="0"/>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4.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2052" name="Picture 4" descr="Top Ranked Data Science Institute, Classroom Plus Online Training | Boston  Institute of Analytics"/>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a:fillRect/>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endParaRPr lang="en-US" sz="1100" dirty="0">
              <a:solidFill>
                <a:schemeClr val="bg2">
                  <a:lumMod val="7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88285"/>
            <a:ext cx="12192635" cy="10896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VoxCart</a:t>
            </a:r>
            <a:endParaRPr lang="en-US" sz="4400" b="1" dirty="0">
              <a:latin typeface="Calibri" panose="020F0502020204030204" pitchFamily="34" charset="0"/>
            </a:endParaRPr>
          </a:p>
          <a:p>
            <a:pPr algn="ctr"/>
            <a:r>
              <a:rPr lang="en-US" sz="4400" b="1" dirty="0">
                <a:latin typeface="Calibri" panose="020F0502020204030204" pitchFamily="34" charset="0"/>
              </a:rPr>
              <a:t>Real-Time E-Commerce Voice Assistant</a:t>
            </a:r>
            <a:endParaRPr lang="en-US" sz="4400" b="1" dirty="0">
              <a:latin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p:nvPr>
            <p:ph idx="1"/>
          </p:nvPr>
        </p:nvSpPr>
        <p:spPr/>
        <p:txBody>
          <a:bodyPr/>
          <a:p>
            <a:r>
              <a:rPr lang="en-US" altLang="en-US"/>
              <a:t>Problem Statement &amp; Motivation</a:t>
            </a:r>
            <a:endParaRPr lang="en-US" altLang="en-US"/>
          </a:p>
          <a:p>
            <a:r>
              <a:rPr lang="en-US" altLang="en-US"/>
              <a:t>System Architecture</a:t>
            </a:r>
            <a:endParaRPr lang="en-US" altLang="en-US"/>
          </a:p>
          <a:p>
            <a:r>
              <a:rPr lang="en-US" altLang="en-US"/>
              <a:t>AI/ML Technology Stack</a:t>
            </a:r>
            <a:endParaRPr lang="en-US" altLang="en-US"/>
          </a:p>
          <a:p>
            <a:r>
              <a:rPr lang="en-US" altLang="en-US"/>
              <a:t>Key Features &amp; Capabilities</a:t>
            </a:r>
            <a:endParaRPr lang="en-US" altLang="en-US"/>
          </a:p>
          <a:p>
            <a:r>
              <a:rPr lang="en-US" altLang="en-US"/>
              <a:t>Demo Scenarios</a:t>
            </a:r>
            <a:endParaRPr lang="en-US" altLang="en-US"/>
          </a:p>
          <a:p>
            <a:r>
              <a:rPr lang="en-US" altLang="en-US"/>
              <a:t>Challenges &amp; Solutions</a:t>
            </a:r>
            <a:endParaRPr lang="en-US" altLang="en-US"/>
          </a:p>
          <a:p>
            <a:r>
              <a:rPr lang="en-US" altLang="en-US"/>
              <a:t>Results &amp; Outcomes</a:t>
            </a:r>
            <a:endParaRPr lang="en-US" altLang="en-US"/>
          </a:p>
          <a:p>
            <a:r>
              <a:rPr lang="en-US" altLang="en-US"/>
              <a:t>Future Scope</a:t>
            </a:r>
            <a:endParaRPr lang="en-US" altLang="en-US"/>
          </a:p>
        </p:txBody>
      </p:sp>
      <p:sp>
        <p:nvSpPr>
          <p:cNvPr id="2" name="Title 1"/>
          <p:cNvSpPr>
            <a:spLocks noGrp="1"/>
          </p:cNvSpPr>
          <p:nvPr>
            <p:ph type="title"/>
          </p:nvPr>
        </p:nvSpPr>
        <p:spPr/>
        <p:txBody>
          <a:bodyPr/>
          <a:lstStyle/>
          <a:p>
            <a:r>
              <a:rPr lang="en-US" dirty="0"/>
              <a:t>Agenda</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prstGeom prst="rect">
            <a:avLst/>
          </a:prstGeom>
        </p:spPr>
        <p:txBody>
          <a:bodyPr>
            <a:normAutofit fontScale="8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ltLang="en-US" dirty="0"/>
              <a:t>**Title: Why VoxCart?**</a:t>
            </a:r>
            <a:endParaRPr lang="en-US" altLang="en-US" dirty="0"/>
          </a:p>
          <a:p>
            <a:pPr lvl="0"/>
            <a:r>
              <a:rPr lang="en-US" altLang="en-US" dirty="0"/>
              <a:t>**Content:**</a:t>
            </a:r>
            <a:endParaRPr lang="en-US" altLang="en-US" dirty="0"/>
          </a:p>
          <a:p>
            <a:pPr lvl="0"/>
            <a:r>
              <a:rPr lang="en-US" altLang="en-US" dirty="0"/>
              <a:t>Tired of clunky, text-only e-commerce chatbots? They're slow, impersonal, and frankly, a chore! We all prefer to *speak* for quick questions like "Where's my order?" And let's not even mention rigid IVR systems that fumble natural conversation.</a:t>
            </a:r>
            <a:endParaRPr lang="en-US" altLang="en-US" dirty="0"/>
          </a:p>
          <a:p>
            <a:pPr lvl="0"/>
            <a:r>
              <a:rPr lang="en-US" altLang="en-US" dirty="0"/>
              <a:t>Our bold goal? To create a revolutionary, voice-first, AI-powered shopping assistant that operates in *real-time* – absolutely no typing, no frustrating page reloads!</a:t>
            </a:r>
            <a:endParaRPr lang="en-US" altLang="en-US" dirty="0"/>
          </a:p>
          <a:p>
            <a:pPr lvl="0"/>
            <a:r>
              <a:rPr lang="en-US" altLang="en-US" dirty="0"/>
              <a:t>Introducing Aria: your ultimate conversational voice agent. She listens, truly understands, and instantly speaks back within a blazing ~1 second, effortlessly handling your order inquiries and much more!rs, products, and return policies end-to-end</a:t>
            </a:r>
            <a:endParaRPr lang="en-US" altLang="en-US" dirty="0"/>
          </a:p>
        </p:txBody>
      </p:sp>
      <p:sp>
        <p:nvSpPr>
          <p:cNvPr id="2" name="Title 1"/>
          <p:cNvSpPr>
            <a:spLocks noGrp="1"/>
          </p:cNvSpPr>
          <p:nvPr>
            <p:ph type="title"/>
          </p:nvPr>
        </p:nvSpPr>
        <p:spPr>
          <a:xfrm>
            <a:off x="0" y="2049780"/>
            <a:ext cx="4034790" cy="2562225"/>
          </a:xfrm>
        </p:spPr>
        <p:txBody>
          <a:bodyPr/>
          <a:lstStyle/>
          <a:p>
            <a:r>
              <a:rPr lang="en-US" altLang="en-US">
                <a:sym typeface="+mn-ea"/>
              </a:rPr>
              <a:t>Problem Statement &amp; Motivation</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8815" y="151130"/>
            <a:ext cx="10834370" cy="643255"/>
          </a:xfrm>
        </p:spPr>
        <p:txBody>
          <a:bodyPr/>
          <a:lstStyle/>
          <a:p>
            <a:r>
              <a:rPr lang="en-US" altLang="en-US">
                <a:sym typeface="+mn-ea"/>
              </a:rPr>
              <a:t>System Architecture</a:t>
            </a:r>
            <a:endParaRPr lang="en-IN" dirty="0"/>
          </a:p>
        </p:txBody>
      </p:sp>
      <p:pic>
        <p:nvPicPr>
          <p:cNvPr id="4" name="Content Placeholder 3"/>
          <p:cNvPicPr>
            <a:picLocks noChangeAspect="1"/>
          </p:cNvPicPr>
          <p:nvPr>
            <p:ph idx="1"/>
          </p:nvPr>
        </p:nvPicPr>
        <p:blipFill>
          <a:blip r:embed="rId1"/>
          <a:stretch>
            <a:fillRect/>
          </a:stretch>
        </p:blipFill>
        <p:spPr>
          <a:xfrm>
            <a:off x="1338580" y="681355"/>
            <a:ext cx="9514205" cy="53917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2" name="Content Placeholder 11"/>
          <p:cNvSpPr>
            <a:spLocks noGrp="1"/>
          </p:cNvSpPr>
          <p:nvPr>
            <p:ph idx="1"/>
          </p:nvPr>
        </p:nvSpPr>
        <p:spPr>
          <a:xfrm>
            <a:off x="4194810" y="603885"/>
            <a:ext cx="7318375" cy="5454015"/>
          </a:xfrm>
        </p:spPr>
        <p:txBody>
          <a:bodyPr/>
          <a:p>
            <a:r>
              <a:rPr lang="en-US" altLang="en-US"/>
              <a:t>Technology Stack</a:t>
            </a:r>
            <a:endParaRPr lang="en-US" altLang="en-US"/>
          </a:p>
        </p:txBody>
      </p:sp>
      <p:sp>
        <p:nvSpPr>
          <p:cNvPr id="4" name="Title 3"/>
          <p:cNvSpPr>
            <a:spLocks noGrp="1"/>
          </p:cNvSpPr>
          <p:nvPr>
            <p:ph type="title"/>
          </p:nvPr>
        </p:nvSpPr>
        <p:spPr>
          <a:xfrm>
            <a:off x="635" y="2049780"/>
            <a:ext cx="3888105" cy="2562225"/>
          </a:xfrm>
        </p:spPr>
        <p:txBody>
          <a:bodyPr/>
          <a:lstStyle/>
          <a:p>
            <a:r>
              <a:rPr lang="en-US" altLang="en-IN"/>
              <a:t>AI/ML Technology Stack</a:t>
            </a:r>
            <a:endParaRPr lang="en-US" altLang="en-IN"/>
          </a:p>
        </p:txBody>
      </p:sp>
      <p:graphicFrame>
        <p:nvGraphicFramePr>
          <p:cNvPr id="2" name="Table 1"/>
          <p:cNvGraphicFramePr/>
          <p:nvPr/>
        </p:nvGraphicFramePr>
        <p:xfrm>
          <a:off x="4830445" y="1337310"/>
          <a:ext cx="6855460" cy="4663440"/>
        </p:xfrm>
        <a:graphic>
          <a:graphicData uri="http://schemas.openxmlformats.org/drawingml/2006/table">
            <a:tbl>
              <a:tblPr/>
              <a:tblGrid>
                <a:gridCol w="1861820"/>
                <a:gridCol w="2533015"/>
                <a:gridCol w="2460625"/>
              </a:tblGrid>
              <a:tr h="340360">
                <a:tc>
                  <a:txBody>
                    <a:bodyPr/>
                    <a:p>
                      <a:r>
                        <a:rPr sz="1100" b="0" i="0">
                          <a:solidFill>
                            <a:srgbClr val="BFBFBF"/>
                          </a:solidFill>
                          <a:latin typeface="-apple-system"/>
                          <a:ea typeface="-apple-system"/>
                        </a:rPr>
                        <a:t>Layer</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Technology</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Why Chosen</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r>
              <a:tr h="552450">
                <a:tc>
                  <a:txBody>
                    <a:bodyPr/>
                    <a:p>
                      <a:r>
                        <a:rPr sz="1100" b="0" i="0">
                          <a:solidFill>
                            <a:srgbClr val="BFBFBF"/>
                          </a:solidFill>
                          <a:latin typeface="-apple-system"/>
                          <a:ea typeface="-apple-system"/>
                        </a:rPr>
                        <a:t>Real-time transport</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LiveKit WebRTC</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Sub-second bidirectional audio in browser</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r>
              <a:tr h="504825">
                <a:tc>
                  <a:txBody>
                    <a:bodyPr/>
                    <a:p>
                      <a:r>
                        <a:rPr sz="1100" b="0" i="0">
                          <a:solidFill>
                            <a:srgbClr val="BFBFBF"/>
                          </a:solidFill>
                          <a:latin typeface="-apple-system"/>
                          <a:ea typeface="-apple-system"/>
                        </a:rPr>
                        <a:t>Voice Activity Detection</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Silero VAD</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Lightweight, fast, CPU-efficient</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r>
              <a:tr h="551815">
                <a:tc>
                  <a:txBody>
                    <a:bodyPr/>
                    <a:p>
                      <a:r>
                        <a:rPr sz="1100" b="0" i="0">
                          <a:solidFill>
                            <a:srgbClr val="BFBFBF"/>
                          </a:solidFill>
                          <a:latin typeface="-apple-system"/>
                          <a:ea typeface="-apple-system"/>
                        </a:rPr>
                        <a:t>Speech-to-Text</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OpenAI Whisper</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High accuracy, handles accents &amp; noise</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r>
              <a:tr h="553720">
                <a:tc>
                  <a:txBody>
                    <a:bodyPr/>
                    <a:p>
                      <a:r>
                        <a:rPr sz="1100" b="0" i="0">
                          <a:solidFill>
                            <a:srgbClr val="BFBFBF"/>
                          </a:solidFill>
                          <a:latin typeface="-apple-system"/>
                          <a:ea typeface="-apple-system"/>
                        </a:rPr>
                        <a:t>Large Language Model</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GPT-4.1-mini</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Function calling, 200K TPM, fast TTFT</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r>
              <a:tr h="551815">
                <a:tc>
                  <a:txBody>
                    <a:bodyPr/>
                    <a:p>
                      <a:r>
                        <a:rPr sz="1100" b="0" i="0">
                          <a:solidFill>
                            <a:srgbClr val="BFBFBF"/>
                          </a:solidFill>
                          <a:latin typeface="-apple-system"/>
                          <a:ea typeface="-apple-system"/>
                        </a:rPr>
                        <a:t>Text-to-Speech</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Cartesia Sonic-2</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Ultra-low latency (~100ms), natural voice</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r>
              <a:tr h="552450">
                <a:tc>
                  <a:txBody>
                    <a:bodyPr/>
                    <a:p>
                      <a:r>
                        <a:rPr sz="1100" b="0" i="0">
                          <a:solidFill>
                            <a:srgbClr val="BFBFBF"/>
                          </a:solidFill>
                          <a:latin typeface="-apple-system"/>
                          <a:ea typeface="-apple-system"/>
                        </a:rPr>
                        <a:t>RAG / Knowledge Base</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TF-IDF Retriever</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Lightweight, zero dependencies, fast</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r>
              <a:tr h="551815">
                <a:tc>
                  <a:txBody>
                    <a:bodyPr/>
                    <a:p>
                      <a:r>
                        <a:rPr sz="1100" b="0" i="0">
                          <a:solidFill>
                            <a:srgbClr val="BFBFBF"/>
                          </a:solidFill>
                          <a:latin typeface="-apple-system"/>
                          <a:ea typeface="-apple-system"/>
                        </a:rPr>
                        <a:t>Backend</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Flask + Python</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JWT token minting, static serving</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r>
              <a:tr h="504190">
                <a:tc>
                  <a:txBody>
                    <a:bodyPr/>
                    <a:p>
                      <a:r>
                        <a:rPr sz="1100" b="0" i="0">
                          <a:solidFill>
                            <a:srgbClr val="BFBFBF"/>
                          </a:solidFill>
                          <a:latin typeface="-apple-system"/>
                          <a:ea typeface="-apple-system"/>
                        </a:rPr>
                        <a:t>Deployment</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Docker + Compose</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c>
                  <a:txBody>
                    <a:bodyPr/>
                    <a:p>
                      <a:r>
                        <a:rPr sz="1100" b="0" i="0">
                          <a:solidFill>
                            <a:srgbClr val="BFBFBF"/>
                          </a:solidFill>
                          <a:latin typeface="-apple-system"/>
                          <a:ea typeface="-apple-system"/>
                        </a:rPr>
                        <a:t>One-command portable setup</a:t>
                      </a:r>
                      <a:endParaRPr sz="1100" b="0" i="0">
                        <a:solidFill>
                          <a:srgbClr val="BFBFBF"/>
                        </a:solidFill>
                        <a:latin typeface="-apple-system"/>
                        <a:ea typeface="-apple-system"/>
                      </a:endParaRPr>
                    </a:p>
                  </a:txBody>
                  <a:tcPr marL="76517" marR="76517" marT="51117" marB="51117" anchor="ctr" anchorCtr="0">
                    <a:lnL>
                      <a:noFill/>
                    </a:lnL>
                    <a:lnR>
                      <a:noFill/>
                    </a:lnR>
                    <a:lnT>
                      <a:noFill/>
                    </a:lnT>
                    <a:lnB>
                      <a:noFill/>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p:txBody>
          <a:bodyPr/>
          <a:p>
            <a:r>
              <a:rPr lang="en-US" altLang="en-US"/>
              <a:t>What Aria Can Do</a:t>
            </a:r>
            <a:endParaRPr lang="en-US" altLang="en-US"/>
          </a:p>
          <a:p>
            <a:endParaRPr lang="en-US" altLang="en-US"/>
          </a:p>
        </p:txBody>
      </p:sp>
      <p:sp>
        <p:nvSpPr>
          <p:cNvPr id="3" name="Title 2"/>
          <p:cNvSpPr>
            <a:spLocks noGrp="1"/>
          </p:cNvSpPr>
          <p:nvPr>
            <p:ph type="title"/>
          </p:nvPr>
        </p:nvSpPr>
        <p:spPr>
          <a:xfrm>
            <a:off x="635" y="2049780"/>
            <a:ext cx="3580765" cy="2562225"/>
          </a:xfrm>
        </p:spPr>
        <p:txBody>
          <a:bodyPr/>
          <a:p>
            <a:r>
              <a:rPr lang="en-US" altLang="en-US"/>
              <a:t>Key Features &amp; Capabilities</a:t>
            </a:r>
            <a:endParaRPr lang="en-US" altLang="en-US"/>
          </a:p>
        </p:txBody>
      </p:sp>
      <p:graphicFrame>
        <p:nvGraphicFramePr>
          <p:cNvPr id="4" name="Table 3"/>
          <p:cNvGraphicFramePr/>
          <p:nvPr>
            <p:custDataLst>
              <p:tags r:id="rId1"/>
            </p:custDataLst>
          </p:nvPr>
        </p:nvGraphicFramePr>
        <p:xfrm>
          <a:off x="4455160" y="107315"/>
          <a:ext cx="7637145" cy="3832860"/>
        </p:xfrm>
        <a:graphic>
          <a:graphicData uri="http://schemas.openxmlformats.org/drawingml/2006/table">
            <a:tbl>
              <a:tblPr firstRow="1" bandRow="1">
                <a:tableStyleId>{5C22544A-7EE6-4342-B048-85BDC9FD1C3A}</a:tableStyleId>
              </a:tblPr>
              <a:tblGrid>
                <a:gridCol w="2101850"/>
                <a:gridCol w="2989580"/>
                <a:gridCol w="2545715"/>
              </a:tblGrid>
              <a:tr h="637540">
                <a:tc>
                  <a:txBody>
                    <a:bodyPr/>
                    <a:p>
                      <a:pPr>
                        <a:buNone/>
                      </a:pPr>
                      <a:r>
                        <a:rPr lang="en-US"/>
                        <a:t>Tool</a:t>
                      </a:r>
                      <a:endParaRPr lang="en-US"/>
                    </a:p>
                  </a:txBody>
                  <a:tcPr/>
                </a:tc>
                <a:tc>
                  <a:txBody>
                    <a:bodyPr/>
                    <a:p>
                      <a:pPr>
                        <a:buNone/>
                      </a:pPr>
                      <a:r>
                        <a:rPr lang="en-US"/>
                        <a:t>Trigger </a:t>
                      </a:r>
                      <a:endParaRPr lang="en-US"/>
                    </a:p>
                  </a:txBody>
                  <a:tcPr/>
                </a:tc>
                <a:tc>
                  <a:txBody>
                    <a:bodyPr/>
                    <a:p>
                      <a:pPr>
                        <a:buNone/>
                      </a:pPr>
                      <a:r>
                        <a:rPr lang="en-US"/>
                        <a:t>Example</a:t>
                      </a:r>
                      <a:endParaRPr lang="en-US"/>
                    </a:p>
                  </a:txBody>
                  <a:tcPr/>
                </a:tc>
              </a:tr>
              <a:tr h="637540">
                <a:tc>
                  <a:txBody>
                    <a:bodyPr/>
                    <a:p>
                      <a:pPr>
                        <a:buNone/>
                      </a:pPr>
                      <a:r>
                        <a:rPr lang="en-US" altLang="en-US"/>
                        <a:t>get_order_status</a:t>
                      </a:r>
                      <a:endParaRPr lang="en-US" altLang="en-US"/>
                    </a:p>
                  </a:txBody>
                  <a:tcPr/>
                </a:tc>
                <a:tc>
                  <a:txBody>
                    <a:bodyPr/>
                    <a:p>
                      <a:pPr>
                        <a:buNone/>
                      </a:pPr>
                      <a:r>
                        <a:rPr lang="en-US" altLang="en-US"/>
                        <a:t>User asks about an order</a:t>
                      </a:r>
                      <a:endParaRPr lang="en-US" altLang="en-US"/>
                    </a:p>
                  </a:txBody>
                  <a:tcPr/>
                </a:tc>
                <a:tc>
                  <a:txBody>
                    <a:bodyPr/>
                    <a:p>
                      <a:pPr>
                        <a:buNone/>
                      </a:pPr>
                      <a:r>
                        <a:rPr lang="en-US" altLang="en-US"/>
                        <a:t>"Where is ORD-1042?"</a:t>
                      </a:r>
                      <a:endParaRPr lang="en-US" altLang="en-US"/>
                    </a:p>
                  </a:txBody>
                  <a:tcPr/>
                </a:tc>
              </a:tr>
              <a:tr h="640080">
                <a:tc>
                  <a:txBody>
                    <a:bodyPr/>
                    <a:p>
                      <a:pPr>
                        <a:buNone/>
                      </a:pPr>
                      <a:r>
                        <a:rPr lang="en-US" altLang="en-US"/>
                        <a:t>lookup_product</a:t>
                      </a:r>
                      <a:endParaRPr lang="en-US" altLang="en-US"/>
                    </a:p>
                  </a:txBody>
                  <a:tcPr/>
                </a:tc>
                <a:tc>
                  <a:txBody>
                    <a:bodyPr/>
                    <a:p>
                      <a:pPr>
                        <a:buNone/>
                      </a:pPr>
                      <a:r>
                        <a:rPr lang="en-US" altLang="en-US"/>
                        <a:t>Product inquiry</a:t>
                      </a:r>
                      <a:endParaRPr lang="en-US" altLang="en-US"/>
                    </a:p>
                  </a:txBody>
                  <a:tcPr/>
                </a:tc>
                <a:tc>
                  <a:txBody>
                    <a:bodyPr/>
                    <a:p>
                      <a:pPr>
                        <a:buNone/>
                      </a:pPr>
                      <a:r>
                        <a:rPr lang="en-US" altLang="en-US"/>
                        <a:t>"Tell me about the Sony headphones"</a:t>
                      </a:r>
                      <a:endParaRPr lang="en-US" altLang="en-US"/>
                    </a:p>
                  </a:txBody>
                  <a:tcPr/>
                </a:tc>
              </a:tr>
              <a:tr h="600075">
                <a:tc>
                  <a:txBody>
                    <a:bodyPr/>
                    <a:p>
                      <a:pPr>
                        <a:buNone/>
                      </a:pPr>
                      <a:r>
                        <a:rPr lang="en-US" altLang="en-US"/>
                        <a:t>get_returns_policy</a:t>
                      </a:r>
                      <a:endParaRPr lang="en-US" altLang="en-US"/>
                    </a:p>
                  </a:txBody>
                  <a:tcPr/>
                </a:tc>
                <a:tc>
                  <a:txBody>
                    <a:bodyPr/>
                    <a:p>
                      <a:r>
                        <a:rPr lang="en-US" altLang="en-US" sz="1800" b="0" i="0"/>
                        <a:t>Returns/refunds/exchange</a:t>
                      </a:r>
                      <a:endParaRPr lang="en-US" altLang="en-US" sz="1800" b="0" i="0"/>
                    </a:p>
                  </a:txBody>
                  <a:tcPr marL="76517" marR="76517" marT="51117" marB="51117" anchor="ctr" anchorCtr="0"/>
                </a:tc>
                <a:tc>
                  <a:txBody>
                    <a:bodyPr/>
                    <a:p>
                      <a:pPr>
                        <a:buNone/>
                      </a:pPr>
                      <a:r>
                        <a:rPr lang="en-US" altLang="en-US"/>
                        <a:t>"I want to return my jacket"</a:t>
                      </a:r>
                      <a:endParaRPr lang="en-US" altLang="en-US"/>
                    </a:p>
                  </a:txBody>
                  <a:tcPr/>
                </a:tc>
              </a:tr>
              <a:tr h="637540">
                <a:tc>
                  <a:txBody>
                    <a:bodyPr/>
                    <a:p>
                      <a:pPr>
                        <a:buNone/>
                      </a:pPr>
                      <a:r>
                        <a:rPr lang="en-US" altLang="en-US"/>
                        <a:t>search_faq</a:t>
                      </a:r>
                      <a:endParaRPr lang="en-US" altLang="en-US"/>
                    </a:p>
                  </a:txBody>
                  <a:tcPr/>
                </a:tc>
                <a:tc>
                  <a:txBody>
                    <a:bodyPr/>
                    <a:p>
                      <a:pPr>
                        <a:buNone/>
                      </a:pPr>
                      <a:r>
                        <a:rPr lang="en-US" altLang="en-US"/>
                        <a:t>Policy questions</a:t>
                      </a:r>
                      <a:endParaRPr lang="en-US" altLang="en-US"/>
                    </a:p>
                  </a:txBody>
                  <a:tcPr/>
                </a:tc>
                <a:tc>
                  <a:txBody>
                    <a:bodyPr/>
                    <a:p>
                      <a:pPr>
                        <a:buNone/>
                      </a:pPr>
                      <a:r>
                        <a:rPr lang="en-US" altLang="en-US"/>
                        <a:t>"Is COD available?"</a:t>
                      </a:r>
                      <a:endParaRPr lang="en-US" altLang="en-US"/>
                    </a:p>
                  </a:txBody>
                  <a:tcPr/>
                </a:tc>
              </a:tr>
              <a:tr h="640080">
                <a:tc>
                  <a:txBody>
                    <a:bodyPr/>
                    <a:p>
                      <a:pPr>
                        <a:buNone/>
                      </a:pPr>
                      <a:r>
                        <a:rPr lang="en-US" altLang="en-US"/>
                        <a:t>get_current_datetime</a:t>
                      </a:r>
                      <a:endParaRPr lang="en-US" altLang="en-US"/>
                    </a:p>
                  </a:txBody>
                  <a:tcPr/>
                </a:tc>
                <a:tc>
                  <a:txBody>
                    <a:bodyPr/>
                    <a:p>
                      <a:pPr>
                        <a:buNone/>
                      </a:pPr>
                      <a:r>
                        <a:rPr lang="en-US" altLang="en-US"/>
                        <a:t>Date/time queries</a:t>
                      </a:r>
                      <a:endParaRPr lang="en-US" altLang="en-US"/>
                    </a:p>
                  </a:txBody>
                  <a:tcPr/>
                </a:tc>
                <a:tc>
                  <a:txBody>
                    <a:bodyPr/>
                    <a:p>
                      <a:pPr>
                        <a:buNone/>
                      </a:pPr>
                      <a:r>
                        <a:rPr lang="en-US" altLang="en-US"/>
                        <a:t>"What day is it today?"</a:t>
                      </a:r>
                      <a:endParaRPr lang="en-US" altLang="en-US"/>
                    </a:p>
                  </a:txBody>
                  <a:tcPr/>
                </a:tc>
              </a:tr>
            </a:tbl>
          </a:graphicData>
        </a:graphic>
      </p:graphicFrame>
      <p:sp>
        <p:nvSpPr>
          <p:cNvPr id="8" name="Text Box 7"/>
          <p:cNvSpPr txBox="1"/>
          <p:nvPr/>
        </p:nvSpPr>
        <p:spPr>
          <a:xfrm>
            <a:off x="4455160" y="3940810"/>
            <a:ext cx="7456170" cy="2553335"/>
          </a:xfrm>
          <a:prstGeom prst="rect">
            <a:avLst/>
          </a:prstGeom>
        </p:spPr>
        <p:txBody>
          <a:bodyPr wrap="square">
            <a:noAutofit/>
          </a:bodyPr>
          <a:p>
            <a:pPr marL="0" indent="0">
              <a:spcBef>
                <a:spcPct val="0"/>
              </a:spcBef>
              <a:spcAft>
                <a:spcPts val="1600"/>
              </a:spcAft>
            </a:pPr>
            <a:r>
              <a:rPr sz="1600" b="1" i="0">
                <a:solidFill>
                  <a:schemeClr val="bg2">
                    <a:lumMod val="10000"/>
                  </a:schemeClr>
                </a:solidFill>
                <a:latin typeface="-apple-system"/>
                <a:ea typeface="-apple-system"/>
              </a:rPr>
              <a:t>Data:</a:t>
            </a:r>
            <a:endParaRPr sz="1600" b="1" i="0">
              <a:solidFill>
                <a:schemeClr val="bg2">
                  <a:lumMod val="10000"/>
                </a:schemeClr>
              </a:solidFill>
              <a:latin typeface="-apple-system"/>
              <a:ea typeface="-apple-system"/>
            </a:endParaRPr>
          </a:p>
          <a:p>
            <a:pPr marL="0" indent="0">
              <a:spcBef>
                <a:spcPts val="400"/>
              </a:spcBef>
              <a:spcAft>
                <a:spcPts val="400"/>
              </a:spcAft>
              <a:buFont typeface="Arial" panose="020B0604020202090204"/>
              <a:buChar char="•"/>
            </a:pPr>
            <a:r>
              <a:rPr sz="1600" b="1" i="0">
                <a:solidFill>
                  <a:schemeClr val="bg2">
                    <a:lumMod val="10000"/>
                  </a:schemeClr>
                </a:solidFill>
                <a:latin typeface="-apple-system"/>
                <a:ea typeface="-apple-system"/>
              </a:rPr>
              <a:t>10 sample orders (ORD-1001 to ORD-1010)</a:t>
            </a:r>
            <a:endParaRPr sz="1600" b="1" i="0">
              <a:solidFill>
                <a:schemeClr val="bg2">
                  <a:lumMod val="10000"/>
                </a:schemeClr>
              </a:solidFill>
              <a:latin typeface="-apple-system"/>
              <a:ea typeface="-apple-system"/>
            </a:endParaRPr>
          </a:p>
          <a:p>
            <a:pPr marL="0" indent="0">
              <a:spcBef>
                <a:spcPts val="400"/>
              </a:spcBef>
              <a:spcAft>
                <a:spcPts val="400"/>
              </a:spcAft>
              <a:buFont typeface="Arial" panose="020B0604020202090204"/>
              <a:buChar char="•"/>
            </a:pPr>
            <a:r>
              <a:rPr sz="1600" b="1" i="0">
                <a:solidFill>
                  <a:schemeClr val="bg2">
                    <a:lumMod val="10000"/>
                  </a:schemeClr>
                </a:solidFill>
                <a:latin typeface="-apple-system"/>
                <a:ea typeface="-apple-system"/>
              </a:rPr>
              <a:t>20 products across 5 categories (Electronics, Clothing, Home &amp; Kitchen, Books, Sports)</a:t>
            </a:r>
            <a:endParaRPr sz="1600" b="1" i="0">
              <a:solidFill>
                <a:schemeClr val="bg2">
                  <a:lumMod val="10000"/>
                </a:schemeClr>
              </a:solidFill>
              <a:latin typeface="-apple-system"/>
              <a:ea typeface="-apple-system"/>
            </a:endParaRPr>
          </a:p>
          <a:p>
            <a:pPr marL="0" indent="0">
              <a:spcBef>
                <a:spcPts val="400"/>
              </a:spcBef>
              <a:spcAft>
                <a:spcPts val="400"/>
              </a:spcAft>
              <a:buFont typeface="Arial" panose="020B0604020202090204"/>
              <a:buChar char="•"/>
            </a:pPr>
            <a:r>
              <a:rPr sz="1600" b="1" i="0">
                <a:solidFill>
                  <a:schemeClr val="bg2">
                    <a:lumMod val="10000"/>
                  </a:schemeClr>
                </a:solidFill>
                <a:latin typeface="-apple-system"/>
                <a:ea typeface="-apple-system"/>
              </a:rPr>
              <a:t>30-entry FAQ (shipping, payment, returns, account policies)</a:t>
            </a:r>
            <a:endParaRPr sz="1600" b="1" i="0">
              <a:solidFill>
                <a:schemeClr val="bg2">
                  <a:lumMod val="10000"/>
                </a:schemeClr>
              </a:solidFill>
              <a:latin typeface="-apple-system"/>
              <a:ea typeface="-apple-system"/>
            </a:endParaRPr>
          </a:p>
          <a:p>
            <a:pPr marL="0" indent="0">
              <a:spcBef>
                <a:spcPct val="0"/>
              </a:spcBef>
              <a:spcAft>
                <a:spcPts val="1600"/>
              </a:spcAft>
            </a:pPr>
            <a:r>
              <a:rPr sz="1600" b="0" i="0">
                <a:solidFill>
                  <a:schemeClr val="bg2">
                    <a:lumMod val="10000"/>
                  </a:schemeClr>
                </a:solidFill>
                <a:latin typeface="-apple-system"/>
                <a:ea typeface="-apple-system"/>
              </a:rPr>
              <a:t>End-to-End Latency: ~700ms – 1.5 seconds</a:t>
            </a:r>
            <a:endParaRPr sz="1600" b="0" i="0">
              <a:solidFill>
                <a:schemeClr val="bg2">
                  <a:lumMod val="10000"/>
                </a:schemeClr>
              </a:solidFill>
              <a:latin typeface="-apple-system"/>
              <a:ea typeface="-apple-system"/>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p:nvPr>
            <p:ph idx="1"/>
          </p:nvPr>
        </p:nvGraphicFramePr>
        <p:xfrm>
          <a:off x="4455269" y="603666"/>
          <a:ext cx="7811770" cy="3093720"/>
        </p:xfrm>
        <a:graphic>
          <a:graphicData uri="http://schemas.openxmlformats.org/drawingml/2006/table">
            <a:tbl>
              <a:tblPr firstRow="1" bandRow="1">
                <a:tableStyleId>{5C22544A-7EE6-4342-B048-85BDC9FD1C3A}</a:tableStyleId>
              </a:tblPr>
              <a:tblGrid>
                <a:gridCol w="2352675"/>
                <a:gridCol w="2352675"/>
                <a:gridCol w="3106420"/>
              </a:tblGrid>
              <a:tr h="381000">
                <a:tc>
                  <a:txBody>
                    <a:bodyPr/>
                    <a:p>
                      <a:pPr>
                        <a:buNone/>
                      </a:pPr>
                      <a:r>
                        <a:rPr lang="en-US" altLang="en-US"/>
                        <a:t>Challenge</a:t>
                      </a:r>
                      <a:endParaRPr lang="en-US" altLang="en-US"/>
                    </a:p>
                  </a:txBody>
                  <a:tcPr/>
                </a:tc>
                <a:tc>
                  <a:txBody>
                    <a:bodyPr/>
                    <a:p>
                      <a:pPr>
                        <a:buNone/>
                      </a:pPr>
                      <a:r>
                        <a:rPr lang="en-US" altLang="en-US"/>
                        <a:t>Root Cause</a:t>
                      </a:r>
                      <a:endParaRPr lang="en-US" altLang="en-US"/>
                    </a:p>
                  </a:txBody>
                  <a:tcPr/>
                </a:tc>
                <a:tc>
                  <a:txBody>
                    <a:bodyPr/>
                    <a:p>
                      <a:pPr>
                        <a:buNone/>
                      </a:pPr>
                      <a:r>
                        <a:rPr lang="en-US" altLang="en-US"/>
                        <a:t>Solution</a:t>
                      </a:r>
                      <a:endParaRPr lang="en-US" altLang="en-US"/>
                    </a:p>
                  </a:txBody>
                  <a:tcPr/>
                </a:tc>
              </a:tr>
              <a:tr h="381000">
                <a:tc>
                  <a:txBody>
                    <a:bodyPr/>
                    <a:p>
                      <a:pPr>
                        <a:buNone/>
                      </a:pPr>
                      <a:r>
                        <a:rPr lang="en-US" altLang="en-US"/>
                        <a:t>Agent silent on cold start</a:t>
                      </a:r>
                      <a:endParaRPr lang="en-US" altLang="en-US"/>
                    </a:p>
                  </a:txBody>
                  <a:tcPr/>
                </a:tc>
                <a:tc>
                  <a:txBody>
                    <a:bodyPr/>
                    <a:p>
                      <a:pPr>
                        <a:buNone/>
                      </a:pPr>
                      <a:r>
                        <a:rPr lang="en-US" altLang="en-US"/>
                        <a:t>MultilingualModel imports Transformers (&gt;60s) in subprocess</a:t>
                      </a:r>
                      <a:endParaRPr lang="en-US" altLang="en-US"/>
                    </a:p>
                  </a:txBody>
                  <a:tcPr/>
                </a:tc>
                <a:tc>
                  <a:txBody>
                    <a:bodyPr/>
                    <a:p>
                      <a:pPr>
                        <a:buNone/>
                      </a:pPr>
                      <a:r>
                        <a:rPr lang="en-US" altLang="en-US"/>
                        <a:t>Removed; Silero VAD handles turn detection</a:t>
                      </a:r>
                      <a:endParaRPr lang="en-US" altLang="en-US"/>
                    </a:p>
                  </a:txBody>
                  <a:tcPr/>
                </a:tc>
              </a:tr>
              <a:tr h="381000">
                <a:tc>
                  <a:txBody>
                    <a:bodyPr/>
                    <a:p>
                      <a:pPr>
                        <a:buNone/>
                      </a:pPr>
                      <a:r>
                        <a:rPr lang="en-US" altLang="en-US"/>
                        <a:t>Agent blocked for 60 seconds</a:t>
                      </a:r>
                      <a:endParaRPr lang="en-US" altLang="en-US"/>
                    </a:p>
                  </a:txBody>
                  <a:tcPr/>
                </a:tc>
                <a:tc>
                  <a:txBody>
                    <a:bodyPr/>
                    <a:p>
                      <a:pPr>
                        <a:buNone/>
                      </a:pPr>
                      <a:r>
                        <a:rPr lang="en-US" altLang="en-US"/>
                        <a:t>silero.VAD.load() called inside async entrypoint</a:t>
                      </a:r>
                      <a:endParaRPr lang="en-US" altLang="en-US"/>
                    </a:p>
                  </a:txBody>
                  <a:tcPr/>
                </a:tc>
                <a:tc>
                  <a:txBody>
                    <a:bodyPr/>
                    <a:p>
                      <a:pPr>
                        <a:buNone/>
                      </a:pPr>
                      <a:r>
                        <a:rPr lang="en-US" altLang="en-US"/>
                        <a:t>prewarm_fnc — pre-loads before accepting jobs</a:t>
                      </a:r>
                      <a:endParaRPr lang="en-US" altLang="en-US"/>
                    </a:p>
                  </a:txBody>
                  <a:tcPr/>
                </a:tc>
              </a:tr>
              <a:tr h="381000">
                <a:tc>
                  <a:txBody>
                    <a:bodyPr/>
                    <a:p>
                      <a:pPr>
                        <a:buNone/>
                      </a:pPr>
                      <a:r>
                        <a:rPr lang="en-US" altLang="en-US"/>
                        <a:t>Native dylib blocking event loop</a:t>
                      </a:r>
                      <a:endParaRPr lang="en-US" altLang="en-US"/>
                    </a:p>
                  </a:txBody>
                  <a:tcPr/>
                </a:tc>
                <a:tc>
                  <a:txBody>
                    <a:bodyPr/>
                    <a:p>
                      <a:pPr>
                        <a:buNone/>
                      </a:pPr>
                      <a:r>
                        <a:rPr lang="en-US" altLang="en-US"/>
                        <a:t>noise_cancellation.BVC() loads C++ dylib synchronously</a:t>
                      </a:r>
                      <a:endParaRPr lang="en-US" altLang="en-US"/>
                    </a:p>
                  </a:txBody>
                  <a:tcPr/>
                </a:tc>
                <a:tc>
                  <a:txBody>
                    <a:bodyPr/>
                    <a:p>
                      <a:pPr>
                        <a:buNone/>
                      </a:pPr>
                      <a:r>
                        <a:rPr lang="en-US" altLang="en-US"/>
                        <a:t>Removed BVC; session.start() now completes in 16ms</a:t>
                      </a:r>
                      <a:endParaRPr lang="en-US" altLang="en-US"/>
                    </a:p>
                  </a:txBody>
                  <a:tcPr/>
                </a:tc>
              </a:tr>
              <a:tr h="381000">
                <a:tc>
                  <a:txBody>
                    <a:bodyPr/>
                    <a:p>
                      <a:pPr>
                        <a:buNone/>
                      </a:pPr>
                      <a:r>
                        <a:rPr lang="en-US" altLang="en-US"/>
                        <a:t>Port conflict on restart</a:t>
                      </a:r>
                      <a:endParaRPr lang="en-US" altLang="en-US"/>
                    </a:p>
                  </a:txBody>
                  <a:tcPr/>
                </a:tc>
                <a:tc>
                  <a:txBody>
                    <a:bodyPr/>
                    <a:p>
                      <a:pPr>
                        <a:buNone/>
                      </a:pPr>
                      <a:r>
                        <a:rPr lang="en-US" altLang="en-US"/>
                        <a:t>Orphaned job subprocesses held port 8081</a:t>
                      </a:r>
                      <a:endParaRPr lang="en-US" altLang="en-US"/>
                    </a:p>
                  </a:txBody>
                  <a:tcPr/>
                </a:tc>
                <a:tc>
                  <a:txBody>
                    <a:bodyPr/>
                    <a:p>
                      <a:pPr>
                        <a:buNone/>
                      </a:pPr>
                      <a:r>
                        <a:rPr lang="en-US" altLang="en-US"/>
                        <a:t>stop.sh kills full process tree + waits for port release</a:t>
                      </a:r>
                      <a:endParaRPr lang="en-US" altLang="en-US"/>
                    </a:p>
                  </a:txBody>
                  <a:tcPr/>
                </a:tc>
              </a:tr>
              <a:tr h="381000">
                <a:tc>
                  <a:txBody>
                    <a:bodyPr/>
                    <a:p>
                      <a:pPr>
                        <a:buNone/>
                      </a:pPr>
                      <a:r>
                        <a:rPr lang="en-US" altLang="en-US"/>
                        <a:t>OpenAI rate limit (429)</a:t>
                      </a:r>
                      <a:endParaRPr lang="en-US" altLang="en-US"/>
                    </a:p>
                  </a:txBody>
                  <a:tcPr/>
                </a:tc>
                <a:tc>
                  <a:txBody>
                    <a:bodyPr/>
                    <a:p>
                      <a:pPr>
                        <a:buNone/>
                      </a:pPr>
                      <a:r>
                        <a:rPr lang="en-US" altLang="en-US"/>
                        <a:t>GPT-4.1 capped at 30K TPM</a:t>
                      </a:r>
                      <a:endParaRPr lang="en-US" altLang="en-US"/>
                    </a:p>
                  </a:txBody>
                  <a:tcPr/>
                </a:tc>
                <a:tc>
                  <a:txBody>
                    <a:bodyPr/>
                    <a:p>
                      <a:pPr>
                        <a:buNone/>
                      </a:pPr>
                      <a:r>
                        <a:rPr lang="en-US" altLang="en-US"/>
                        <a:t>Switched to gpt-4.1-mini (200K TPM)</a:t>
                      </a:r>
                      <a:endParaRPr lang="en-US" altLang="en-US"/>
                    </a:p>
                  </a:txBody>
                  <a:tcPr/>
                </a:tc>
              </a:tr>
            </a:tbl>
          </a:graphicData>
        </a:graphic>
      </p:graphicFrame>
      <p:sp>
        <p:nvSpPr>
          <p:cNvPr id="5" name="Title 4"/>
          <p:cNvSpPr>
            <a:spLocks noGrp="1"/>
          </p:cNvSpPr>
          <p:nvPr>
            <p:ph type="title"/>
          </p:nvPr>
        </p:nvSpPr>
        <p:spPr>
          <a:xfrm>
            <a:off x="635" y="2049780"/>
            <a:ext cx="4092575" cy="2562225"/>
          </a:xfrm>
        </p:spPr>
        <p:txBody>
          <a:bodyPr/>
          <a:p>
            <a:r>
              <a:rPr lang="en-US" altLang="en-US"/>
              <a:t>Challenges &amp; Solutions</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635" y="2049780"/>
            <a:ext cx="4092575" cy="2562225"/>
          </a:xfrm>
        </p:spPr>
        <p:txBody>
          <a:bodyPr/>
          <a:p>
            <a:r>
              <a:rPr lang="en-US" altLang="en-US"/>
              <a:t>Demo</a:t>
            </a:r>
            <a:br>
              <a:rPr lang="en-US" altLang="en-US"/>
            </a:br>
            <a:endParaRPr lang="en-US" altLang="en-US"/>
          </a:p>
        </p:txBody>
      </p:sp>
      <p:sp>
        <p:nvSpPr>
          <p:cNvPr id="2" name="Content Placeholder 1"/>
          <p:cNvSpPr/>
          <p:nvPr>
            <p:ph idx="1"/>
          </p:nvPr>
        </p:nvSpPr>
        <p:spPr>
          <a:xfrm>
            <a:off x="4455160" y="136525"/>
            <a:ext cx="7627620" cy="5877560"/>
          </a:xfrm>
        </p:spPr>
        <p:txBody>
          <a:bodyPr>
            <a:normAutofit/>
          </a:bodyPr>
          <a:p>
            <a:r>
              <a:rPr lang="en-US" altLang="en-US" sz="1800"/>
              <a:t>Scenario 1:</a:t>
            </a:r>
            <a:endParaRPr lang="en-US" altLang="en-US" sz="1800"/>
          </a:p>
          <a:p>
            <a:pPr marL="0" indent="0">
              <a:buNone/>
            </a:pPr>
            <a:r>
              <a:rPr lang="en-US" altLang="en-US" sz="1800">
                <a:sym typeface="+mn-ea"/>
              </a:rPr>
              <a:t>”</a:t>
            </a:r>
            <a:r>
              <a:rPr lang="en-US" altLang="en-US" sz="1800"/>
              <a:t> Hi, what's the status of my order ORD-1003?"</a:t>
            </a:r>
            <a:endParaRPr lang="en-US" altLang="en-US" sz="1800"/>
          </a:p>
          <a:p>
            <a:pPr marL="0" indent="0">
              <a:buNone/>
            </a:pPr>
            <a:r>
              <a:rPr lang="en-US" altLang="en-US" sz="1800"/>
              <a:t>→ Aria calls get_order_status, returns: "Your order for [items] has been shipped. Expected delivery by [date]. Tracking number: [0RD- 1003]."</a:t>
            </a:r>
            <a:endParaRPr lang="en-US" altLang="en-US" sz="1800"/>
          </a:p>
          <a:p>
            <a:endParaRPr lang="en-US" altLang="en-US" sz="1800"/>
          </a:p>
          <a:p>
            <a:r>
              <a:rPr lang="en-US" altLang="en-US" sz="1800"/>
              <a:t>Scenario 2:</a:t>
            </a:r>
            <a:endParaRPr lang="en-US" altLang="en-US" sz="1800"/>
          </a:p>
          <a:p>
            <a:pPr marL="0" indent="0">
              <a:buNone/>
            </a:pPr>
            <a:r>
              <a:rPr lang="en-US" altLang="en-US" sz="1800"/>
              <a:t>"Do you have Sony headphones? What's the price?"</a:t>
            </a:r>
            <a:endParaRPr lang="en-US" altLang="en-US" sz="1800"/>
          </a:p>
          <a:p>
            <a:pPr marL="0" indent="0">
              <a:buNone/>
            </a:pPr>
            <a:r>
              <a:rPr lang="en-US" altLang="en-US" sz="1800"/>
              <a:t>→ Aria calls lookup_product, returns price, rating, stock status, top 3 features.</a:t>
            </a:r>
            <a:endParaRPr lang="en-US" altLang="en-US" sz="1800"/>
          </a:p>
          <a:p>
            <a:pPr marL="0" indent="0">
              <a:buNone/>
            </a:pPr>
            <a:endParaRPr lang="en-US" altLang="en-US" sz="1800"/>
          </a:p>
          <a:p>
            <a:pPr marL="0" indent="0">
              <a:buNone/>
            </a:pPr>
            <a:r>
              <a:rPr lang="en-US" altLang="en-US" sz="1800"/>
              <a:t>Scenario 3:</a:t>
            </a:r>
            <a:endParaRPr lang="en-US" altLang="en-US" sz="1800"/>
          </a:p>
          <a:p>
            <a:pPr marL="0" indent="0">
              <a:buNone/>
            </a:pPr>
            <a:r>
              <a:rPr lang="en-US" altLang="en-US" sz="1800"/>
              <a:t>"I want to return a jacket I bought last week."</a:t>
            </a:r>
            <a:endParaRPr lang="en-US" altLang="en-US" sz="1800"/>
          </a:p>
          <a:p>
            <a:pPr marL="0" indent="0">
              <a:buNone/>
            </a:pPr>
            <a:r>
              <a:rPr lang="en-US" altLang="en-US" sz="1800"/>
              <a:t>→ Aria calls get_returns_policy, returns the Clothing return window (30 days) and steps to initiate.</a:t>
            </a:r>
            <a:endParaRPr lang="en-US"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p:nvPr>
            <p:ph idx="1"/>
          </p:nvPr>
        </p:nvGraphicFramePr>
        <p:xfrm>
          <a:off x="4455269" y="603666"/>
          <a:ext cx="7811770" cy="3093720"/>
        </p:xfrm>
        <a:graphic>
          <a:graphicData uri="http://schemas.openxmlformats.org/drawingml/2006/table">
            <a:tbl>
              <a:tblPr firstRow="1" bandRow="1">
                <a:tableStyleId>{5C22544A-7EE6-4342-B048-85BDC9FD1C3A}</a:tableStyleId>
              </a:tblPr>
              <a:tblGrid>
                <a:gridCol w="2352675"/>
                <a:gridCol w="2352675"/>
                <a:gridCol w="3106420"/>
              </a:tblGrid>
              <a:tr h="381000">
                <a:tc>
                  <a:txBody>
                    <a:bodyPr/>
                    <a:p>
                      <a:pPr>
                        <a:buNone/>
                      </a:pPr>
                      <a:r>
                        <a:rPr lang="en-US" altLang="en-US"/>
                        <a:t>Challenge</a:t>
                      </a:r>
                      <a:endParaRPr lang="en-US" altLang="en-US"/>
                    </a:p>
                  </a:txBody>
                  <a:tcPr/>
                </a:tc>
                <a:tc>
                  <a:txBody>
                    <a:bodyPr/>
                    <a:p>
                      <a:pPr>
                        <a:buNone/>
                      </a:pPr>
                      <a:r>
                        <a:rPr lang="en-US" altLang="en-US"/>
                        <a:t>Root Cause</a:t>
                      </a:r>
                      <a:endParaRPr lang="en-US" altLang="en-US"/>
                    </a:p>
                  </a:txBody>
                  <a:tcPr/>
                </a:tc>
                <a:tc>
                  <a:txBody>
                    <a:bodyPr/>
                    <a:p>
                      <a:pPr>
                        <a:buNone/>
                      </a:pPr>
                      <a:r>
                        <a:rPr lang="en-US" altLang="en-US"/>
                        <a:t>Solution</a:t>
                      </a:r>
                      <a:endParaRPr lang="en-US" altLang="en-US"/>
                    </a:p>
                  </a:txBody>
                  <a:tcPr/>
                </a:tc>
              </a:tr>
              <a:tr h="381000">
                <a:tc>
                  <a:txBody>
                    <a:bodyPr/>
                    <a:p>
                      <a:pPr>
                        <a:buNone/>
                      </a:pPr>
                      <a:r>
                        <a:rPr lang="en-US" altLang="en-US"/>
                        <a:t>Agent silent on cold start</a:t>
                      </a:r>
                      <a:endParaRPr lang="en-US" altLang="en-US"/>
                    </a:p>
                  </a:txBody>
                  <a:tcPr/>
                </a:tc>
                <a:tc>
                  <a:txBody>
                    <a:bodyPr/>
                    <a:p>
                      <a:pPr>
                        <a:buNone/>
                      </a:pPr>
                      <a:r>
                        <a:rPr lang="en-US" altLang="en-US"/>
                        <a:t>MultilingualModel imports Transformers (&gt;60s) in subprocess</a:t>
                      </a:r>
                      <a:endParaRPr lang="en-US" altLang="en-US"/>
                    </a:p>
                  </a:txBody>
                  <a:tcPr/>
                </a:tc>
                <a:tc>
                  <a:txBody>
                    <a:bodyPr/>
                    <a:p>
                      <a:pPr>
                        <a:buNone/>
                      </a:pPr>
                      <a:r>
                        <a:rPr lang="en-US" altLang="en-US"/>
                        <a:t>Removed; Silero VAD handles turn detection</a:t>
                      </a:r>
                      <a:endParaRPr lang="en-US" altLang="en-US"/>
                    </a:p>
                  </a:txBody>
                  <a:tcPr/>
                </a:tc>
              </a:tr>
              <a:tr h="381000">
                <a:tc>
                  <a:txBody>
                    <a:bodyPr/>
                    <a:p>
                      <a:pPr>
                        <a:buNone/>
                      </a:pPr>
                      <a:r>
                        <a:rPr lang="en-US" altLang="en-US"/>
                        <a:t>Agent blocked for 60 seconds</a:t>
                      </a:r>
                      <a:endParaRPr lang="en-US" altLang="en-US"/>
                    </a:p>
                  </a:txBody>
                  <a:tcPr/>
                </a:tc>
                <a:tc>
                  <a:txBody>
                    <a:bodyPr/>
                    <a:p>
                      <a:pPr>
                        <a:buNone/>
                      </a:pPr>
                      <a:r>
                        <a:rPr lang="en-US" altLang="en-US"/>
                        <a:t>silero.VAD.load() called inside async entrypoint</a:t>
                      </a:r>
                      <a:endParaRPr lang="en-US" altLang="en-US"/>
                    </a:p>
                  </a:txBody>
                  <a:tcPr/>
                </a:tc>
                <a:tc>
                  <a:txBody>
                    <a:bodyPr/>
                    <a:p>
                      <a:pPr>
                        <a:buNone/>
                      </a:pPr>
                      <a:r>
                        <a:rPr lang="en-US" altLang="en-US"/>
                        <a:t>prewarm_fnc — pre-loads before accepting jobs</a:t>
                      </a:r>
                      <a:endParaRPr lang="en-US" altLang="en-US"/>
                    </a:p>
                  </a:txBody>
                  <a:tcPr/>
                </a:tc>
              </a:tr>
              <a:tr h="381000">
                <a:tc>
                  <a:txBody>
                    <a:bodyPr/>
                    <a:p>
                      <a:pPr>
                        <a:buNone/>
                      </a:pPr>
                      <a:r>
                        <a:rPr lang="en-US" altLang="en-US"/>
                        <a:t>Native dylib blocking event loop</a:t>
                      </a:r>
                      <a:endParaRPr lang="en-US" altLang="en-US"/>
                    </a:p>
                  </a:txBody>
                  <a:tcPr/>
                </a:tc>
                <a:tc>
                  <a:txBody>
                    <a:bodyPr/>
                    <a:p>
                      <a:pPr>
                        <a:buNone/>
                      </a:pPr>
                      <a:r>
                        <a:rPr lang="en-US" altLang="en-US"/>
                        <a:t>noise_cancellation.BVC() loads C++ dylib synchronously</a:t>
                      </a:r>
                      <a:endParaRPr lang="en-US" altLang="en-US"/>
                    </a:p>
                  </a:txBody>
                  <a:tcPr/>
                </a:tc>
                <a:tc>
                  <a:txBody>
                    <a:bodyPr/>
                    <a:p>
                      <a:pPr>
                        <a:buNone/>
                      </a:pPr>
                      <a:r>
                        <a:rPr lang="en-US" altLang="en-US"/>
                        <a:t>Removed BVC; session.start() now completes in 16ms</a:t>
                      </a:r>
                      <a:endParaRPr lang="en-US" altLang="en-US"/>
                    </a:p>
                  </a:txBody>
                  <a:tcPr/>
                </a:tc>
              </a:tr>
              <a:tr h="381000">
                <a:tc>
                  <a:txBody>
                    <a:bodyPr/>
                    <a:p>
                      <a:pPr>
                        <a:buNone/>
                      </a:pPr>
                      <a:r>
                        <a:rPr lang="en-US" altLang="en-US"/>
                        <a:t>Port conflict on restart</a:t>
                      </a:r>
                      <a:endParaRPr lang="en-US" altLang="en-US"/>
                    </a:p>
                  </a:txBody>
                  <a:tcPr/>
                </a:tc>
                <a:tc>
                  <a:txBody>
                    <a:bodyPr/>
                    <a:p>
                      <a:pPr>
                        <a:buNone/>
                      </a:pPr>
                      <a:r>
                        <a:rPr lang="en-US" altLang="en-US"/>
                        <a:t>Orphaned job subprocesses held port 8081</a:t>
                      </a:r>
                      <a:endParaRPr lang="en-US" altLang="en-US"/>
                    </a:p>
                  </a:txBody>
                  <a:tcPr/>
                </a:tc>
                <a:tc>
                  <a:txBody>
                    <a:bodyPr/>
                    <a:p>
                      <a:pPr>
                        <a:buNone/>
                      </a:pPr>
                      <a:r>
                        <a:rPr lang="en-US" altLang="en-US"/>
                        <a:t>stop.sh kills full process tree + waits for port release</a:t>
                      </a:r>
                      <a:endParaRPr lang="en-US" altLang="en-US"/>
                    </a:p>
                  </a:txBody>
                  <a:tcPr/>
                </a:tc>
              </a:tr>
              <a:tr h="381000">
                <a:tc>
                  <a:txBody>
                    <a:bodyPr/>
                    <a:p>
                      <a:pPr>
                        <a:buNone/>
                      </a:pPr>
                      <a:r>
                        <a:rPr lang="en-US" altLang="en-US"/>
                        <a:t>OpenAI rate limit (429)</a:t>
                      </a:r>
                      <a:endParaRPr lang="en-US" altLang="en-US"/>
                    </a:p>
                  </a:txBody>
                  <a:tcPr/>
                </a:tc>
                <a:tc>
                  <a:txBody>
                    <a:bodyPr/>
                    <a:p>
                      <a:pPr>
                        <a:buNone/>
                      </a:pPr>
                      <a:r>
                        <a:rPr lang="en-US" altLang="en-US"/>
                        <a:t>GPT-4.1 capped at 30K TPM</a:t>
                      </a:r>
                      <a:endParaRPr lang="en-US" altLang="en-US"/>
                    </a:p>
                  </a:txBody>
                  <a:tcPr/>
                </a:tc>
                <a:tc>
                  <a:txBody>
                    <a:bodyPr/>
                    <a:p>
                      <a:pPr>
                        <a:buNone/>
                      </a:pPr>
                      <a:r>
                        <a:rPr lang="en-US" altLang="en-US"/>
                        <a:t>Switched to gpt-4.1-mini (200K TPM)</a:t>
                      </a:r>
                      <a:endParaRPr lang="en-US" altLang="en-US"/>
                    </a:p>
                  </a:txBody>
                  <a:tcPr/>
                </a:tc>
              </a:tr>
            </a:tbl>
          </a:graphicData>
        </a:graphic>
      </p:graphicFrame>
      <p:sp>
        <p:nvSpPr>
          <p:cNvPr id="5" name="Title 4"/>
          <p:cNvSpPr>
            <a:spLocks noGrp="1"/>
          </p:cNvSpPr>
          <p:nvPr>
            <p:ph type="title"/>
          </p:nvPr>
        </p:nvSpPr>
        <p:spPr>
          <a:xfrm>
            <a:off x="635" y="2049780"/>
            <a:ext cx="4092575" cy="2562225"/>
          </a:xfrm>
        </p:spPr>
        <p:txBody>
          <a:bodyPr/>
          <a:p>
            <a:r>
              <a:rPr lang="en-US" altLang="en-US"/>
              <a:t>Challenges &amp; Solutions</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a:xfrm>
            <a:off x="4455160" y="145415"/>
            <a:ext cx="7058025" cy="5912485"/>
          </a:xfrm>
        </p:spPr>
        <p:txBody>
          <a:bodyPr>
            <a:normAutofit lnSpcReduction="10000"/>
          </a:bodyPr>
          <a:p>
            <a:r>
              <a:rPr lang="en-US" sz="2000"/>
              <a:t>Real Data Layer - </a:t>
            </a:r>
            <a:endParaRPr lang="en-US" sz="2000"/>
          </a:p>
          <a:p>
            <a:pPr marL="800100" lvl="1" indent="-342900"/>
            <a:r>
              <a:rPr lang="en-US" altLang="en-US" sz="1600"/>
              <a:t>PostgreSQL/Supabase — real orders, real products, real inventory</a:t>
            </a:r>
            <a:endParaRPr lang="en-US" altLang="en-US" sz="1600"/>
          </a:p>
          <a:p>
            <a:pPr marL="800100" lvl="1" indent="-342900"/>
            <a:r>
              <a:rPr lang="en-US" altLang="en-US" sz="1600"/>
              <a:t>E-Commerce API Integration</a:t>
            </a:r>
            <a:endParaRPr lang="en-US" altLang="en-US" sz="1600"/>
          </a:p>
          <a:p>
            <a:pPr marL="800100" lvl="1" indent="-342900"/>
            <a:r>
              <a:rPr lang="en-US" altLang="en-US" sz="1600"/>
              <a:t>User Authentication</a:t>
            </a:r>
            <a:endParaRPr lang="en-US" altLang="en-US" sz="1600"/>
          </a:p>
          <a:p>
            <a:pPr marL="800100" lvl="1" indent="-342900"/>
            <a:r>
              <a:rPr lang="en-US" altLang="en-US" sz="1600"/>
              <a:t>Order Ownership</a:t>
            </a:r>
            <a:endParaRPr lang="en-US" altLang="en-US" sz="1600"/>
          </a:p>
          <a:p>
            <a:r>
              <a:rPr lang="en-US" sz="2000"/>
              <a:t>Richer Voice Capabilities - </a:t>
            </a:r>
            <a:endParaRPr lang="en-US" sz="2000"/>
          </a:p>
          <a:p>
            <a:pPr lvl="1"/>
            <a:r>
              <a:rPr lang="en-US" altLang="en-US" sz="1600"/>
              <a:t>Multilingual Support</a:t>
            </a:r>
            <a:endParaRPr lang="en-US" altLang="en-US" sz="1600"/>
          </a:p>
          <a:p>
            <a:pPr lvl="1"/>
            <a:r>
              <a:rPr lang="en-US" altLang="en-US" sz="1600"/>
              <a:t>Barge-In Support</a:t>
            </a:r>
            <a:endParaRPr lang="en-US" altLang="en-US" sz="1600"/>
          </a:p>
          <a:p>
            <a:pPr lvl="1"/>
            <a:r>
              <a:rPr lang="en-US" altLang="en-US" sz="1600"/>
              <a:t>Custom brand voice</a:t>
            </a:r>
            <a:endParaRPr lang="en-US" altLang="en-US" sz="1600"/>
          </a:p>
          <a:p>
            <a:pPr lvl="0"/>
            <a:r>
              <a:rPr lang="en-US" sz="2000"/>
              <a:t>Smarter AI Layer</a:t>
            </a:r>
            <a:endParaRPr lang="en-US" sz="2000"/>
          </a:p>
          <a:p>
            <a:pPr lvl="1"/>
            <a:r>
              <a:rPr lang="en-US" altLang="en-US" sz="1600"/>
              <a:t>Vector-based RAG</a:t>
            </a:r>
            <a:endParaRPr lang="en-US" altLang="en-US" sz="1600"/>
          </a:p>
          <a:p>
            <a:pPr lvl="1"/>
            <a:r>
              <a:rPr lang="en-US" altLang="en-US" sz="1600"/>
              <a:t>Dynamic FAQ</a:t>
            </a:r>
            <a:endParaRPr lang="en-US" altLang="en-US" sz="1600"/>
          </a:p>
          <a:p>
            <a:pPr lvl="1"/>
            <a:r>
              <a:rPr lang="en-US" altLang="en-US" sz="1600"/>
              <a:t>Personalised Recommendation</a:t>
            </a:r>
            <a:endParaRPr lang="en-US" altLang="en-US" sz="1600"/>
          </a:p>
          <a:p>
            <a:pPr lvl="1"/>
            <a:r>
              <a:rPr lang="en-US" altLang="en-US" sz="1600"/>
              <a:t>Sentiment Detection</a:t>
            </a:r>
            <a:endParaRPr lang="en-US" altLang="en-US" sz="1600"/>
          </a:p>
          <a:p>
            <a:pPr lvl="0"/>
            <a:r>
              <a:rPr lang="en-US" sz="2000"/>
              <a:t>New Channels</a:t>
            </a:r>
            <a:endParaRPr lang="en-US" sz="2000"/>
          </a:p>
          <a:p>
            <a:pPr lvl="1"/>
            <a:r>
              <a:rPr lang="en-US" sz="2000"/>
              <a:t>Whatsapp Voice</a:t>
            </a:r>
            <a:endParaRPr lang="en-US" sz="2000"/>
          </a:p>
          <a:p>
            <a:pPr lvl="1"/>
            <a:r>
              <a:rPr lang="en-US" sz="2000"/>
              <a:t>Phone</a:t>
            </a:r>
            <a:endParaRPr lang="en-US" sz="2000"/>
          </a:p>
          <a:p>
            <a:pPr lvl="1"/>
            <a:r>
              <a:rPr lang="en-US" sz="2000"/>
              <a:t>Mobile App</a:t>
            </a:r>
            <a:endParaRPr lang="en-US" sz="2000"/>
          </a:p>
          <a:p>
            <a:pPr lvl="1"/>
            <a:r>
              <a:rPr lang="en-US" sz="2000"/>
              <a:t>Push Notification</a:t>
            </a:r>
            <a:endParaRPr lang="en-US" sz="2000"/>
          </a:p>
        </p:txBody>
      </p:sp>
      <p:sp>
        <p:nvSpPr>
          <p:cNvPr id="3" name="Title 2"/>
          <p:cNvSpPr>
            <a:spLocks noGrp="1"/>
          </p:cNvSpPr>
          <p:nvPr>
            <p:ph type="title"/>
          </p:nvPr>
        </p:nvSpPr>
        <p:spPr>
          <a:xfrm>
            <a:off x="0" y="2049780"/>
            <a:ext cx="4088765" cy="2562225"/>
          </a:xfrm>
        </p:spPr>
        <p:txBody>
          <a:bodyPr/>
          <a:p>
            <a:r>
              <a:rPr lang="en-US"/>
              <a:t>Enhanacements</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br>
              <a:rPr lang="en-IN" dirty="0"/>
            </a:br>
            <a:r>
              <a:rPr lang="en-IN" dirty="0"/>
              <a:t>Questions ?</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cSld>
  <p:clrMapOvr>
    <a:masterClrMapping/>
  </p:clrMapOvr>
</p:sld>
</file>

<file path=ppt/tags/tag1.xml><?xml version="1.0" encoding="utf-8"?>
<p:tagLst xmlns:p="http://schemas.openxmlformats.org/presentationml/2006/main">
  <p:tag name="wpp_generatetext" val="1"/>
</p:tagLst>
</file>

<file path=ppt/tags/tag2.xml><?xml version="1.0" encoding="utf-8"?>
<p:tagLst xmlns:p="http://schemas.openxmlformats.org/presentationml/2006/main">
  <p:tag name="TABLE_ENDDRAG_ORIGIN_RECT" val="601*301"/>
  <p:tag name="TABLE_ENDDRAG_RECT" val="350*45*601*301"/>
</p:tagLst>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4310</Words>
  <Application>WPS Presentation</Application>
  <PresentationFormat>Widescreen</PresentationFormat>
  <Paragraphs>245</Paragraphs>
  <Slides>12</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12</vt:i4>
      </vt:variant>
    </vt:vector>
  </HeadingPairs>
  <TitlesOfParts>
    <vt:vector size="27" baseType="lpstr">
      <vt:lpstr>Arial</vt:lpstr>
      <vt:lpstr>SimSun</vt:lpstr>
      <vt:lpstr>Wingdings</vt:lpstr>
      <vt:lpstr>Calibri</vt:lpstr>
      <vt:lpstr>Helvetica Neue</vt:lpstr>
      <vt:lpstr>Nunito</vt:lpstr>
      <vt:lpstr>苹方-简</vt:lpstr>
      <vt:lpstr>-apple-system</vt:lpstr>
      <vt:lpstr>Thonburi</vt:lpstr>
      <vt:lpstr>Arial</vt:lpstr>
      <vt:lpstr>Microsoft YaHei</vt:lpstr>
      <vt:lpstr>汉仪旗黑</vt:lpstr>
      <vt:lpstr>Arial Unicode MS</vt:lpstr>
      <vt:lpstr>宋体-简</vt:lpstr>
      <vt:lpstr>BIA Template</vt:lpstr>
      <vt:lpstr>PowerPoint 演示文稿</vt:lpstr>
      <vt:lpstr>Agenda</vt:lpstr>
      <vt:lpstr>Problem Statement &amp; Motivation</vt:lpstr>
      <vt:lpstr>System Architecture</vt:lpstr>
      <vt:lpstr>AI/ML Technology Stack</vt:lpstr>
      <vt:lpstr>Key Features &amp; Capabilities</vt:lpstr>
      <vt:lpstr>Challenges &amp; Solutions</vt:lpstr>
      <vt:lpstr>Demo </vt:lpstr>
      <vt:lpstr>Challenges &amp; Solutions</vt:lpstr>
      <vt:lpstr>PowerPoint 演示文稿</vt:lpstr>
      <vt:lpstr> Questions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Amit_WPS</cp:lastModifiedBy>
  <cp:revision>2257</cp:revision>
  <dcterms:created xsi:type="dcterms:W3CDTF">2026-05-26T11:04:56Z</dcterms:created>
  <dcterms:modified xsi:type="dcterms:W3CDTF">2026-05-26T11:04:56Z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1033-12.1.25880.25880</vt:lpwstr>
  </property>
</Properties>
</file>